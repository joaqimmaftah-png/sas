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0"/>
  </p:notesMasterIdLst>
  <p:sldIdLst>
    <p:sldId id="281" r:id="rId2"/>
    <p:sldId id="267" r:id="rId3"/>
    <p:sldId id="303" r:id="rId4"/>
    <p:sldId id="324" r:id="rId5"/>
    <p:sldId id="319" r:id="rId6"/>
    <p:sldId id="326" r:id="rId7"/>
    <p:sldId id="327" r:id="rId8"/>
    <p:sldId id="300" r:id="rId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BA3B"/>
    <a:srgbClr val="4C8526"/>
    <a:srgbClr val="113366"/>
    <a:srgbClr val="66AA44"/>
    <a:srgbClr val="D0E6D1"/>
    <a:srgbClr val="123960"/>
    <a:srgbClr val="1A355E"/>
    <a:srgbClr val="FFFFFF"/>
    <a:srgbClr val="143C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973" autoAdjust="0"/>
    <p:restoredTop sz="83808" autoAdjust="0"/>
  </p:normalViewPr>
  <p:slideViewPr>
    <p:cSldViewPr>
      <p:cViewPr>
        <p:scale>
          <a:sx n="80" d="100"/>
          <a:sy n="80" d="100"/>
        </p:scale>
        <p:origin x="129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35" charset="-128"/>
              </a:defRPr>
            </a:lvl1pPr>
          </a:lstStyle>
          <a:p>
            <a:pPr>
              <a:defRPr/>
            </a:pPr>
            <a:endParaRPr lang="en-US" dirty="0"/>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35" charset="-128"/>
              </a:defRPr>
            </a:lvl1pPr>
          </a:lstStyle>
          <a:p>
            <a:pPr>
              <a:defRPr/>
            </a:pPr>
            <a:endParaRPr lang="en-US" dirty="0"/>
          </a:p>
        </p:txBody>
      </p:sp>
      <p:sp>
        <p:nvSpPr>
          <p:cNvPr id="122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35" charset="-128"/>
              </a:defRPr>
            </a:lvl1pPr>
          </a:lstStyle>
          <a:p>
            <a:pPr>
              <a:defRPr/>
            </a:pPr>
            <a:endParaRPr lang="en-US" dirty="0"/>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C00B5AE2-6F33-48B6-8193-ABA3FEE90225}" type="slidenum">
              <a:rPr lang="en-US"/>
              <a:pPr/>
              <a:t>‹#›</a:t>
            </a:fld>
            <a:endParaRPr lang="en-US" dirty="0"/>
          </a:p>
        </p:txBody>
      </p:sp>
    </p:spTree>
    <p:extLst>
      <p:ext uri="{BB962C8B-B14F-4D97-AF65-F5344CB8AC3E}">
        <p14:creationId xmlns:p14="http://schemas.microsoft.com/office/powerpoint/2010/main" val="40373814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FE0E889-35BD-47CF-A672-DF9D644F4634}" type="slidenum">
              <a:rPr lang="en-US" sz="1200"/>
              <a:pPr/>
              <a:t>2</a:t>
            </a:fld>
            <a:endParaRPr lang="en-US" sz="1200" dirty="0"/>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904918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E9C0FD1-6D0B-4578-B9AA-E2BB45931E14}" type="slidenum">
              <a:rPr lang="en-US" sz="1200"/>
              <a:pPr/>
              <a:t>3</a:t>
            </a:fld>
            <a:endParaRPr lang="en-US" sz="120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3298991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E9C0FD1-6D0B-4578-B9AA-E2BB45931E14}" type="slidenum">
              <a:rPr lang="en-US" sz="1200"/>
              <a:pPr/>
              <a:t>4</a:t>
            </a:fld>
            <a:endParaRPr lang="en-US" sz="120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3534246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D0811354-AD1D-4E0D-8AA8-EE05F6D6E4DF}" type="slidenum">
              <a:rPr lang="en-US" sz="1200"/>
              <a:pPr/>
              <a:t>5</a:t>
            </a:fld>
            <a:endParaRPr lang="en-US" sz="120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2180763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E9C0FD1-6D0B-4578-B9AA-E2BB45931E14}" type="slidenum">
              <a:rPr lang="en-US" sz="1200"/>
              <a:pPr/>
              <a:t>6</a:t>
            </a:fld>
            <a:endParaRPr lang="en-US" sz="120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181791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E9C0FD1-6D0B-4578-B9AA-E2BB45931E14}" type="slidenum">
              <a:rPr lang="en-US" sz="1200"/>
              <a:pPr/>
              <a:t>7</a:t>
            </a:fld>
            <a:endParaRPr lang="en-US" sz="120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4272740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4FB4027-A2AA-4714-8B98-A93018881B6A}" type="slidenum">
              <a:rPr lang="en-US" sz="1200"/>
              <a:pPr/>
              <a:t>8</a:t>
            </a:fld>
            <a:endParaRPr lang="en-US" sz="1200" dirty="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dirty="0" smtClean="0">
              <a:latin typeface="Arial" panose="020B0604020202020204" pitchFamily="34" charset="0"/>
            </a:endParaRPr>
          </a:p>
        </p:txBody>
      </p:sp>
    </p:spTree>
    <p:extLst>
      <p:ext uri="{BB962C8B-B14F-4D97-AF65-F5344CB8AC3E}">
        <p14:creationId xmlns:p14="http://schemas.microsoft.com/office/powerpoint/2010/main" val="2336061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F8904A50-0722-4C88-83F9-3623A324B299}" type="slidenum">
              <a:rPr lang="en-US"/>
              <a:pPr/>
              <a:t>‹#›</a:t>
            </a:fld>
            <a:endParaRPr lang="en-US" dirty="0"/>
          </a:p>
        </p:txBody>
      </p:sp>
    </p:spTree>
    <p:extLst>
      <p:ext uri="{BB962C8B-B14F-4D97-AF65-F5344CB8AC3E}">
        <p14:creationId xmlns:p14="http://schemas.microsoft.com/office/powerpoint/2010/main" val="218379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72B3A1C2-516C-4E82-A641-8CC4E2329FBD}" type="slidenum">
              <a:rPr lang="en-US"/>
              <a:pPr/>
              <a:t>‹#›</a:t>
            </a:fld>
            <a:endParaRPr lang="en-US" dirty="0"/>
          </a:p>
        </p:txBody>
      </p:sp>
    </p:spTree>
    <p:extLst>
      <p:ext uri="{BB962C8B-B14F-4D97-AF65-F5344CB8AC3E}">
        <p14:creationId xmlns:p14="http://schemas.microsoft.com/office/powerpoint/2010/main" val="3859712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918EB274-901C-481D-8520-26BB310F38C1}" type="slidenum">
              <a:rPr lang="en-US"/>
              <a:pPr/>
              <a:t>‹#›</a:t>
            </a:fld>
            <a:endParaRPr lang="en-US" dirty="0"/>
          </a:p>
        </p:txBody>
      </p:sp>
    </p:spTree>
    <p:extLst>
      <p:ext uri="{BB962C8B-B14F-4D97-AF65-F5344CB8AC3E}">
        <p14:creationId xmlns:p14="http://schemas.microsoft.com/office/powerpoint/2010/main" val="1163541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D8BE3CA3-EE00-43AF-8374-3F101948F70A}" type="slidenum">
              <a:rPr lang="en-US"/>
              <a:pPr/>
              <a:t>‹#›</a:t>
            </a:fld>
            <a:endParaRPr lang="en-US" dirty="0"/>
          </a:p>
        </p:txBody>
      </p:sp>
    </p:spTree>
    <p:extLst>
      <p:ext uri="{BB962C8B-B14F-4D97-AF65-F5344CB8AC3E}">
        <p14:creationId xmlns:p14="http://schemas.microsoft.com/office/powerpoint/2010/main" val="3367400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fld id="{AF96883A-B94A-45EA-97C6-FA501A1AA2A6}" type="slidenum">
              <a:rPr lang="en-US"/>
              <a:pPr/>
              <a:t>‹#›</a:t>
            </a:fld>
            <a:endParaRPr lang="en-US" dirty="0"/>
          </a:p>
        </p:txBody>
      </p:sp>
    </p:spTree>
    <p:extLst>
      <p:ext uri="{BB962C8B-B14F-4D97-AF65-F5344CB8AC3E}">
        <p14:creationId xmlns:p14="http://schemas.microsoft.com/office/powerpoint/2010/main" val="473845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fld id="{C28E7D47-62C0-40FA-9DD3-5BFBE07A7E51}" type="slidenum">
              <a:rPr lang="en-US"/>
              <a:pPr/>
              <a:t>‹#›</a:t>
            </a:fld>
            <a:endParaRPr lang="en-US" dirty="0"/>
          </a:p>
        </p:txBody>
      </p:sp>
    </p:spTree>
    <p:extLst>
      <p:ext uri="{BB962C8B-B14F-4D97-AF65-F5344CB8AC3E}">
        <p14:creationId xmlns:p14="http://schemas.microsoft.com/office/powerpoint/2010/main" val="3614216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fld id="{A7849C92-7722-4D24-BB90-81A07A766841}" type="slidenum">
              <a:rPr lang="en-US"/>
              <a:pPr/>
              <a:t>‹#›</a:t>
            </a:fld>
            <a:endParaRPr lang="en-US" dirty="0"/>
          </a:p>
        </p:txBody>
      </p:sp>
    </p:spTree>
    <p:extLst>
      <p:ext uri="{BB962C8B-B14F-4D97-AF65-F5344CB8AC3E}">
        <p14:creationId xmlns:p14="http://schemas.microsoft.com/office/powerpoint/2010/main" val="236942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F4638F10-281C-4362-A6D7-3DE0BC7EEE24}" type="slidenum">
              <a:rPr lang="en-US"/>
              <a:pPr/>
              <a:t>‹#›</a:t>
            </a:fld>
            <a:endParaRPr lang="en-US" dirty="0"/>
          </a:p>
        </p:txBody>
      </p:sp>
    </p:spTree>
    <p:extLst>
      <p:ext uri="{BB962C8B-B14F-4D97-AF65-F5344CB8AC3E}">
        <p14:creationId xmlns:p14="http://schemas.microsoft.com/office/powerpoint/2010/main" val="3532912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fld id="{166C31CC-85C3-4009-8DD7-30F9B19A10C3}" type="slidenum">
              <a:rPr lang="en-US"/>
              <a:pPr/>
              <a:t>‹#›</a:t>
            </a:fld>
            <a:endParaRPr lang="en-US" dirty="0"/>
          </a:p>
        </p:txBody>
      </p:sp>
    </p:spTree>
    <p:extLst>
      <p:ext uri="{BB962C8B-B14F-4D97-AF65-F5344CB8AC3E}">
        <p14:creationId xmlns:p14="http://schemas.microsoft.com/office/powerpoint/2010/main" val="1821388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1BAE3AB6-E024-410A-B7E6-0FE298195D00}" type="slidenum">
              <a:rPr lang="en-US"/>
              <a:pPr/>
              <a:t>‹#›</a:t>
            </a:fld>
            <a:endParaRPr lang="en-US" dirty="0"/>
          </a:p>
        </p:txBody>
      </p:sp>
    </p:spTree>
    <p:extLst>
      <p:ext uri="{BB962C8B-B14F-4D97-AF65-F5344CB8AC3E}">
        <p14:creationId xmlns:p14="http://schemas.microsoft.com/office/powerpoint/2010/main" val="968169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fld id="{F3D203E8-D0B3-4333-B186-5669B430AEB7}" type="slidenum">
              <a:rPr lang="en-US"/>
              <a:pPr/>
              <a:t>‹#›</a:t>
            </a:fld>
            <a:endParaRPr lang="en-US" dirty="0"/>
          </a:p>
        </p:txBody>
      </p:sp>
    </p:spTree>
    <p:extLst>
      <p:ext uri="{BB962C8B-B14F-4D97-AF65-F5344CB8AC3E}">
        <p14:creationId xmlns:p14="http://schemas.microsoft.com/office/powerpoint/2010/main" val="990393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atin typeface="Arial" charset="0"/>
                <a:ea typeface="ＭＳ Ｐゴシック" pitchFamily="-35" charset="-128"/>
              </a:defRPr>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latin typeface="Arial" charset="0"/>
                <a:ea typeface="ＭＳ Ｐゴシック" pitchFamily="-35" charset="-128"/>
              </a:defRPr>
            </a:lvl1pPr>
          </a:lstStyle>
          <a:p>
            <a:pPr>
              <a:defRPr/>
            </a:pPr>
            <a:endParaRPr lang="en-US" dirty="0"/>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lvl1pPr>
          </a:lstStyle>
          <a:p>
            <a:fld id="{060E6D88-7857-4D9E-AC17-381E380EFB2F}" type="slidenum">
              <a:rPr lang="en-US"/>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ＭＳ Ｐゴシック" panose="020B0600070205080204" pitchFamily="34" charset="-128"/>
          <a:cs typeface="+mj-cs"/>
        </a:defRPr>
      </a:lvl1pPr>
      <a:lvl2pPr algn="ctr" rtl="0" eaLnBrk="0" fontAlgn="base" hangingPunct="0">
        <a:spcBef>
          <a:spcPct val="0"/>
        </a:spcBef>
        <a:spcAft>
          <a:spcPct val="0"/>
        </a:spcAft>
        <a:defRPr sz="4400">
          <a:solidFill>
            <a:schemeClr val="tx2"/>
          </a:solidFill>
          <a:latin typeface="Arial" charset="0"/>
          <a:ea typeface="ＭＳ Ｐゴシック" panose="020B0600070205080204" pitchFamily="34" charset="-128"/>
        </a:defRPr>
      </a:lvl2pPr>
      <a:lvl3pPr algn="ctr" rtl="0" eaLnBrk="0" fontAlgn="base" hangingPunct="0">
        <a:spcBef>
          <a:spcPct val="0"/>
        </a:spcBef>
        <a:spcAft>
          <a:spcPct val="0"/>
        </a:spcAft>
        <a:defRPr sz="4400">
          <a:solidFill>
            <a:schemeClr val="tx2"/>
          </a:solidFill>
          <a:latin typeface="Arial" charset="0"/>
          <a:ea typeface="ＭＳ Ｐゴシック" panose="020B0600070205080204" pitchFamily="34" charset="-128"/>
        </a:defRPr>
      </a:lvl3pPr>
      <a:lvl4pPr algn="ctr" rtl="0" eaLnBrk="0" fontAlgn="base" hangingPunct="0">
        <a:spcBef>
          <a:spcPct val="0"/>
        </a:spcBef>
        <a:spcAft>
          <a:spcPct val="0"/>
        </a:spcAft>
        <a:defRPr sz="4400">
          <a:solidFill>
            <a:schemeClr val="tx2"/>
          </a:solidFill>
          <a:latin typeface="Arial" charset="0"/>
          <a:ea typeface="ＭＳ Ｐゴシック" panose="020B0600070205080204" pitchFamily="34" charset="-128"/>
        </a:defRPr>
      </a:lvl4pPr>
      <a:lvl5pPr algn="ctr" rtl="0" eaLnBrk="0" fontAlgn="base" hangingPunct="0">
        <a:spcBef>
          <a:spcPct val="0"/>
        </a:spcBef>
        <a:spcAft>
          <a:spcPct val="0"/>
        </a:spcAft>
        <a:defRPr sz="4400">
          <a:solidFill>
            <a:schemeClr val="tx2"/>
          </a:solidFill>
          <a:latin typeface="Arial" charset="0"/>
          <a:ea typeface="ＭＳ Ｐゴシック" panose="020B0600070205080204" pitchFamily="34" charset="-128"/>
        </a:defRPr>
      </a:lvl5pPr>
      <a:lvl6pPr marL="457200" algn="ctr" rtl="0" fontAlgn="base">
        <a:spcBef>
          <a:spcPct val="0"/>
        </a:spcBef>
        <a:spcAft>
          <a:spcPct val="0"/>
        </a:spcAft>
        <a:defRPr sz="4400">
          <a:solidFill>
            <a:schemeClr val="tx2"/>
          </a:solidFill>
          <a:latin typeface="Arial" charset="0"/>
          <a:ea typeface="ＭＳ Ｐゴシック" pitchFamily="-35" charset="-128"/>
        </a:defRPr>
      </a:lvl6pPr>
      <a:lvl7pPr marL="914400" algn="ctr" rtl="0" fontAlgn="base">
        <a:spcBef>
          <a:spcPct val="0"/>
        </a:spcBef>
        <a:spcAft>
          <a:spcPct val="0"/>
        </a:spcAft>
        <a:defRPr sz="4400">
          <a:solidFill>
            <a:schemeClr val="tx2"/>
          </a:solidFill>
          <a:latin typeface="Arial" charset="0"/>
          <a:ea typeface="ＭＳ Ｐゴシック" pitchFamily="-35" charset="-128"/>
        </a:defRPr>
      </a:lvl7pPr>
      <a:lvl8pPr marL="1371600" algn="ctr" rtl="0" fontAlgn="base">
        <a:spcBef>
          <a:spcPct val="0"/>
        </a:spcBef>
        <a:spcAft>
          <a:spcPct val="0"/>
        </a:spcAft>
        <a:defRPr sz="4400">
          <a:solidFill>
            <a:schemeClr val="tx2"/>
          </a:solidFill>
          <a:latin typeface="Arial" charset="0"/>
          <a:ea typeface="ＭＳ Ｐゴシック" pitchFamily="-35" charset="-128"/>
        </a:defRPr>
      </a:lvl8pPr>
      <a:lvl9pPr marL="1828800" algn="ctr" rtl="0" fontAlgn="base">
        <a:spcBef>
          <a:spcPct val="0"/>
        </a:spcBef>
        <a:spcAft>
          <a:spcPct val="0"/>
        </a:spcAft>
        <a:defRPr sz="4400">
          <a:solidFill>
            <a:schemeClr val="tx2"/>
          </a:solidFill>
          <a:latin typeface="Arial" charset="0"/>
          <a:ea typeface="ＭＳ Ｐゴシック" pitchFamily="-35" charset="-128"/>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anose="020B0600070205080204" pitchFamily="34" charset="-128"/>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anose="020B0600070205080204"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anose="020B0600070205080204" pitchFamily="34" charset="-128"/>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heliostowers.com/media/1786/ht-ar-2019.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www.gsma.com/mobilefordevelopment/wp-content/uploads/2014/11/Africa-Market-Report-GPM-final.pd" TargetMode="External"/><Relationship Id="rId4" Type="http://schemas.openxmlformats.org/officeDocument/2006/relationships/hyperlink" Target="https://www.heliostowers.com/media/1786/ht-ar-2019.pd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allafrica.com/stories/202108170105.html" TargetMode="External"/><Relationship Id="rId4" Type="http://schemas.openxmlformats.org/officeDocument/2006/relationships/hyperlink" Target="https://tinyurl.com/275q39cw"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www.bot.go.tz/Publications/Other/Tanzania%20Investment/en/2020021122482283199.pdf" TargetMode="External"/><Relationship Id="rId5" Type="http://schemas.openxmlformats.org/officeDocument/2006/relationships/hyperlink" Target="https://www.heliostowers.com/media/1786/ht-ar-2019.pdf" TargetMode="External"/><Relationship Id="rId4" Type="http://schemas.openxmlformats.org/officeDocument/2006/relationships/hyperlink" Target="https://www.usaid.gov/sites/default/files/documents/1860/Tanzania%20_IG_2015_05_03.pdf"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2738438"/>
            <a:ext cx="9144000" cy="4195762"/>
          </a:xfrm>
          <a:prstGeom prst="rect">
            <a:avLst/>
          </a:prstGeom>
          <a:solidFill>
            <a:srgbClr val="123960"/>
          </a:solidFill>
          <a:ln w="9525" algn="ctr">
            <a:solidFill>
              <a:srgbClr val="1A355E"/>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GB" dirty="0"/>
          </a:p>
        </p:txBody>
      </p:sp>
      <p:pic>
        <p:nvPicPr>
          <p:cNvPr id="2051" name="Picture 5" descr="F:\Images\homecov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770188"/>
            <a:ext cx="6858000" cy="419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228600" y="561405"/>
            <a:ext cx="5791200" cy="1992853"/>
          </a:xfrm>
          <a:prstGeom prst="rect">
            <a:avLst/>
          </a:prstGeom>
          <a:noFill/>
        </p:spPr>
        <p:txBody>
          <a:bodyPr>
            <a:spAutoFit/>
          </a:bodyPr>
          <a:lstStyle/>
          <a:p>
            <a:pPr>
              <a:defRPr/>
            </a:pPr>
            <a:r>
              <a:rPr lang="en-GB" sz="1800" b="1" dirty="0" smtClean="0"/>
              <a:t>LPG GENERATORS </a:t>
            </a:r>
          </a:p>
          <a:p>
            <a:pPr>
              <a:defRPr/>
            </a:pPr>
            <a:endParaRPr lang="en-GB" sz="1800" b="1" dirty="0"/>
          </a:p>
          <a:p>
            <a:pPr>
              <a:defRPr/>
            </a:pPr>
            <a:r>
              <a:rPr lang="en-GB" sz="1100" b="1" dirty="0" smtClean="0"/>
              <a:t>MARKET ANALYSIS FOR TELECOM INDUSTRY IN TANZANIA</a:t>
            </a:r>
            <a:endParaRPr lang="en-US" sz="1100" b="1" dirty="0"/>
          </a:p>
          <a:p>
            <a:pPr>
              <a:defRPr/>
            </a:pPr>
            <a:endParaRPr lang="en-US" sz="1800" b="1" dirty="0"/>
          </a:p>
          <a:p>
            <a:pPr>
              <a:defRPr/>
            </a:pPr>
            <a:endParaRPr lang="en-US" sz="1800" b="1" dirty="0"/>
          </a:p>
          <a:p>
            <a:pPr>
              <a:defRPr/>
            </a:pPr>
            <a:endParaRPr lang="en-US" sz="1800" b="1" dirty="0"/>
          </a:p>
          <a:p>
            <a:pPr>
              <a:defRPr/>
            </a:pPr>
            <a:r>
              <a:rPr lang="en-GB" sz="1000" b="1" dirty="0" smtClean="0"/>
              <a:t>Prepared by</a:t>
            </a:r>
            <a:r>
              <a:rPr lang="en-GB" sz="1000" b="1" dirty="0" smtClean="0"/>
              <a:t>: Redempta Chikoti</a:t>
            </a:r>
            <a:endParaRPr lang="en-US" sz="1000" b="1" dirty="0"/>
          </a:p>
          <a:p>
            <a:pPr>
              <a:defRPr/>
            </a:pPr>
            <a:r>
              <a:rPr lang="en-US" sz="1050" b="1" dirty="0" smtClean="0"/>
              <a:t>July</a:t>
            </a:r>
            <a:r>
              <a:rPr lang="en-US" sz="1050" b="1" dirty="0" smtClean="0"/>
              <a:t> </a:t>
            </a:r>
            <a:r>
              <a:rPr lang="en-US" sz="1050" b="1" dirty="0" smtClean="0"/>
              <a:t>2022  </a:t>
            </a:r>
            <a:endParaRPr lang="en-US" sz="1050" b="1" dirty="0"/>
          </a:p>
        </p:txBody>
      </p:sp>
      <p:pic>
        <p:nvPicPr>
          <p:cNvPr id="2053"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831850"/>
            <a:ext cx="1066800" cy="123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ChangeArrowheads="1"/>
          </p:cNvSpPr>
          <p:nvPr/>
        </p:nvSpPr>
        <p:spPr bwMode="auto">
          <a:xfrm>
            <a:off x="0" y="6400800"/>
            <a:ext cx="9144000" cy="1524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3075" name="Rectangle 4"/>
          <p:cNvSpPr>
            <a:spLocks noChangeArrowheads="1"/>
          </p:cNvSpPr>
          <p:nvPr/>
        </p:nvSpPr>
        <p:spPr bwMode="auto">
          <a:xfrm>
            <a:off x="0" y="6248400"/>
            <a:ext cx="9144000" cy="1524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dirty="0"/>
          </a:p>
        </p:txBody>
      </p:sp>
      <p:pic>
        <p:nvPicPr>
          <p:cNvPr id="307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24800" y="152400"/>
            <a:ext cx="677863"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3078"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3079"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2" name="TextBox 1"/>
          <p:cNvSpPr txBox="1"/>
          <p:nvPr/>
        </p:nvSpPr>
        <p:spPr>
          <a:xfrm>
            <a:off x="152400" y="1721019"/>
            <a:ext cx="8839200" cy="4462760"/>
          </a:xfrm>
          <a:prstGeom prst="rect">
            <a:avLst/>
          </a:prstGeom>
          <a:noFill/>
        </p:spPr>
        <p:txBody>
          <a:bodyPr wrap="square" rtlCol="0" anchor="t">
            <a:spAutoFit/>
          </a:bodyPr>
          <a:lstStyle/>
          <a:p>
            <a:pPr marL="285750" indent="-285750">
              <a:lnSpc>
                <a:spcPct val="150000"/>
              </a:lnSpc>
              <a:buFont typeface="Wingdings" panose="05000000000000000000" pitchFamily="2" charset="2"/>
              <a:buChar char="q"/>
            </a:pPr>
            <a:r>
              <a:rPr lang="en-GB" sz="1800" dirty="0"/>
              <a:t>Telecommunication Industry is one of the fast growing sector in Tanzania. This is contributed by the increase of improved infrastructure through various ongoing projects such as the UCSAF projects and other rural telecom projects. </a:t>
            </a:r>
          </a:p>
          <a:p>
            <a:pPr marL="285750" indent="-285750">
              <a:lnSpc>
                <a:spcPct val="150000"/>
              </a:lnSpc>
              <a:buFont typeface="Wingdings" panose="05000000000000000000" pitchFamily="2" charset="2"/>
              <a:buChar char="q"/>
            </a:pPr>
            <a:r>
              <a:rPr lang="en-GB" sz="1800" dirty="0"/>
              <a:t> Tanzania is estimated  to have  significant increase of mobile subscribers  by 33% between year 2018 and 2024. [See </a:t>
            </a:r>
            <a:r>
              <a:rPr lang="en-GB" sz="1800" dirty="0">
                <a:hlinkClick r:id="rId4"/>
              </a:rPr>
              <a:t>HT report, 2019</a:t>
            </a:r>
            <a:r>
              <a:rPr lang="en-GB" sz="1800" dirty="0"/>
              <a:t>]. This shows a potential growth and demand for this market</a:t>
            </a:r>
          </a:p>
          <a:p>
            <a:pPr marL="285750" indent="-285750">
              <a:lnSpc>
                <a:spcPct val="150000"/>
              </a:lnSpc>
              <a:buFont typeface="Wingdings" panose="05000000000000000000" pitchFamily="2" charset="2"/>
              <a:buChar char="q"/>
            </a:pPr>
            <a:r>
              <a:rPr lang="en-GB" sz="1800" dirty="0"/>
              <a:t>Moreover the government is implementing fair environment to encourage foreign investment</a:t>
            </a:r>
            <a:r>
              <a:rPr lang="en-US" sz="1800" dirty="0"/>
              <a:t> </a:t>
            </a:r>
            <a:r>
              <a:rPr lang="en-GB" sz="1800" dirty="0"/>
              <a:t>to promote economic growth and social development, and policy reforms have led to the country having one of the most liberal telecom sectors in Africa.</a:t>
            </a:r>
          </a:p>
          <a:p>
            <a:endParaRPr lang="en-US" sz="1400" dirty="0">
              <a:cs typeface="Arial" panose="020B0604020202020204" pitchFamily="34" charset="0"/>
            </a:endParaRPr>
          </a:p>
        </p:txBody>
      </p:sp>
      <p:sp>
        <p:nvSpPr>
          <p:cNvPr id="3" name="TextBox 2"/>
          <p:cNvSpPr txBox="1"/>
          <p:nvPr/>
        </p:nvSpPr>
        <p:spPr>
          <a:xfrm>
            <a:off x="2667000" y="936625"/>
            <a:ext cx="2971800" cy="369332"/>
          </a:xfrm>
          <a:prstGeom prst="rect">
            <a:avLst/>
          </a:prstGeom>
          <a:noFill/>
        </p:spPr>
        <p:txBody>
          <a:bodyPr wrap="square" rtlCol="0">
            <a:spAutoFit/>
          </a:bodyPr>
          <a:lstStyle/>
          <a:p>
            <a:r>
              <a:rPr lang="en-GB" sz="1800" b="1" dirty="0" smtClean="0"/>
              <a:t>INTRODUCTION</a:t>
            </a:r>
            <a:endParaRPr lang="en-US" sz="18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22529" y="6689944"/>
            <a:ext cx="9144000" cy="1524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5" name="Rectangle 4"/>
          <p:cNvSpPr>
            <a:spLocks noChangeArrowheads="1"/>
          </p:cNvSpPr>
          <p:nvPr/>
        </p:nvSpPr>
        <p:spPr bwMode="auto">
          <a:xfrm>
            <a:off x="22529" y="6564711"/>
            <a:ext cx="9144000" cy="1524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dirty="0"/>
          </a:p>
        </p:txBody>
      </p:sp>
      <p:pic>
        <p:nvPicPr>
          <p:cNvPr id="819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152400"/>
            <a:ext cx="7540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198"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9"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317" name="TextBox 8"/>
          <p:cNvSpPr txBox="1">
            <a:spLocks noChangeArrowheads="1"/>
          </p:cNvSpPr>
          <p:nvPr/>
        </p:nvSpPr>
        <p:spPr bwMode="auto">
          <a:xfrm>
            <a:off x="1873250" y="1025525"/>
            <a:ext cx="4565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GB" sz="1600" b="1" dirty="0"/>
              <a:t>TELECOM POWER INFRASTRUCTURE</a:t>
            </a:r>
            <a:endParaRPr lang="en-US" b="1" dirty="0">
              <a:solidFill>
                <a:srgbClr val="002060"/>
              </a:solidFill>
            </a:endParaRPr>
          </a:p>
        </p:txBody>
      </p:sp>
      <p:sp>
        <p:nvSpPr>
          <p:cNvPr id="3" name="Rectangle 2"/>
          <p:cNvSpPr/>
          <p:nvPr/>
        </p:nvSpPr>
        <p:spPr>
          <a:xfrm>
            <a:off x="22529" y="1565345"/>
            <a:ext cx="8607425" cy="4196020"/>
          </a:xfrm>
          <a:prstGeom prst="rect">
            <a:avLst/>
          </a:prstGeom>
        </p:spPr>
        <p:txBody>
          <a:bodyPr wrap="square">
            <a:spAutoFit/>
          </a:bodyPr>
          <a:lstStyle/>
          <a:p>
            <a:pPr marL="342900" indent="-342900">
              <a:lnSpc>
                <a:spcPct val="150000"/>
              </a:lnSpc>
              <a:buFont typeface="Wingdings" panose="05000000000000000000" pitchFamily="2" charset="2"/>
              <a:buChar char="q"/>
            </a:pPr>
            <a:r>
              <a:rPr lang="en-GB" sz="1800" dirty="0"/>
              <a:t>One of critical aspect in effective operation of Telecom sites starting from BTS to MSC including Data centres is availability of reliable power.</a:t>
            </a:r>
          </a:p>
          <a:p>
            <a:pPr marL="342900" indent="-342900">
              <a:lnSpc>
                <a:spcPct val="150000"/>
              </a:lnSpc>
              <a:buFont typeface="Wingdings" panose="05000000000000000000" pitchFamily="2" charset="2"/>
              <a:buChar char="q"/>
            </a:pPr>
            <a:r>
              <a:rPr lang="en-GB" sz="1800" dirty="0"/>
              <a:t>Telecom sites in Tanzania maybe categorized into Grid sites and off-grid sites, whereas batteries and generators are used as backup power for grid sites.</a:t>
            </a:r>
          </a:p>
          <a:p>
            <a:pPr marL="342900" indent="-342900">
              <a:lnSpc>
                <a:spcPct val="150000"/>
              </a:lnSpc>
              <a:buFont typeface="Wingdings" panose="05000000000000000000" pitchFamily="2" charset="2"/>
              <a:buChar char="q"/>
            </a:pPr>
            <a:r>
              <a:rPr lang="en-GB" sz="1800" dirty="0"/>
              <a:t>Furthermore for Off-grid sites which are mostly located in remote areas tend to use hybrid power which includes Solar power and often operates 24/7 on Diesel generators</a:t>
            </a:r>
          </a:p>
          <a:p>
            <a:pPr marL="342900" indent="-342900">
              <a:lnSpc>
                <a:spcPct val="150000"/>
              </a:lnSpc>
              <a:buFont typeface="Wingdings" panose="05000000000000000000" pitchFamily="2" charset="2"/>
              <a:buChar char="q"/>
            </a:pPr>
            <a:r>
              <a:rPr lang="en-GB" sz="1800" dirty="0"/>
              <a:t>About 90% of sites use DG as backup power, where it is encountered by  abrupt increase in fuel prices, difficult to monitor fuel consumption such as theft of fuel ( which has proved to be an extensive problem in most sites)</a:t>
            </a:r>
          </a:p>
        </p:txBody>
      </p:sp>
    </p:spTree>
    <p:extLst>
      <p:ext uri="{BB962C8B-B14F-4D97-AF65-F5344CB8AC3E}">
        <p14:creationId xmlns:p14="http://schemas.microsoft.com/office/powerpoint/2010/main" val="206606274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0" y="6400800"/>
            <a:ext cx="9144000" cy="1524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5" name="Rectangle 4"/>
          <p:cNvSpPr>
            <a:spLocks noChangeArrowheads="1"/>
          </p:cNvSpPr>
          <p:nvPr/>
        </p:nvSpPr>
        <p:spPr bwMode="auto">
          <a:xfrm>
            <a:off x="0" y="6248400"/>
            <a:ext cx="9144000" cy="1524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dirty="0"/>
          </a:p>
        </p:txBody>
      </p:sp>
      <p:pic>
        <p:nvPicPr>
          <p:cNvPr id="819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152400"/>
            <a:ext cx="7540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198"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9"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317" name="TextBox 8"/>
          <p:cNvSpPr txBox="1">
            <a:spLocks noChangeArrowheads="1"/>
          </p:cNvSpPr>
          <p:nvPr/>
        </p:nvSpPr>
        <p:spPr bwMode="auto">
          <a:xfrm>
            <a:off x="2441575" y="864305"/>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GB" b="1" dirty="0"/>
              <a:t>Market overview</a:t>
            </a:r>
            <a:endParaRPr lang="en-US" sz="3600" b="1" dirty="0">
              <a:solidFill>
                <a:srgbClr val="002060"/>
              </a:solidFill>
            </a:endParaRPr>
          </a:p>
        </p:txBody>
      </p:sp>
      <p:sp>
        <p:nvSpPr>
          <p:cNvPr id="2" name="Rectangle 1"/>
          <p:cNvSpPr/>
          <p:nvPr/>
        </p:nvSpPr>
        <p:spPr>
          <a:xfrm>
            <a:off x="286254" y="1221843"/>
            <a:ext cx="8781546" cy="4708981"/>
          </a:xfrm>
          <a:prstGeom prst="rect">
            <a:avLst/>
          </a:prstGeom>
        </p:spPr>
        <p:txBody>
          <a:bodyPr wrap="square">
            <a:spAutoFit/>
          </a:bodyPr>
          <a:lstStyle/>
          <a:p>
            <a:pPr marL="342900" indent="-342900">
              <a:lnSpc>
                <a:spcPct val="150000"/>
              </a:lnSpc>
              <a:buFont typeface="Wingdings" panose="05000000000000000000" pitchFamily="2" charset="2"/>
              <a:buChar char="q"/>
            </a:pPr>
            <a:r>
              <a:rPr lang="en-GB" sz="2000" dirty="0"/>
              <a:t>Tanzania is estimated to have  more than 4000 sites. With continuous increase of population, urbanization as well as globalization, are some of key drivers to demand for mobile and telecommunications infrastructure. The population is forecast to exceed 67 million by 2024 [See </a:t>
            </a:r>
            <a:r>
              <a:rPr lang="en-GB" sz="2000" dirty="0">
                <a:hlinkClick r:id="rId4"/>
              </a:rPr>
              <a:t>HT report, 2019</a:t>
            </a:r>
            <a:r>
              <a:rPr lang="en-GB" sz="2000" dirty="0"/>
              <a:t>]</a:t>
            </a:r>
          </a:p>
          <a:p>
            <a:pPr marL="285750" indent="-285750">
              <a:lnSpc>
                <a:spcPct val="150000"/>
              </a:lnSpc>
              <a:buFont typeface="Wingdings" panose="05000000000000000000" pitchFamily="2" charset="2"/>
              <a:buChar char="q"/>
            </a:pPr>
            <a:r>
              <a:rPr lang="en-GB" sz="1800" dirty="0"/>
              <a:t>Moreover</a:t>
            </a:r>
            <a:r>
              <a:rPr lang="en-GB" sz="2000" dirty="0"/>
              <a:t> Mobile networks has grown beyond the rich of grid electricity. However with </a:t>
            </a:r>
            <a:r>
              <a:rPr lang="en-GB" sz="1800" dirty="0"/>
              <a:t>projects</a:t>
            </a:r>
            <a:r>
              <a:rPr lang="en-GB" sz="2000" dirty="0"/>
              <a:t> such as UCSAF and other MNOs projects Towers have been deployed in areas not accessible to grid electricity infrastructure. [See  </a:t>
            </a:r>
            <a:r>
              <a:rPr lang="en-GB" sz="2000" dirty="0">
                <a:hlinkClick r:id="rId5"/>
              </a:rPr>
              <a:t>Africa-Market-Report-GPM-</a:t>
            </a:r>
            <a:r>
              <a:rPr lang="en-GB" sz="2000" dirty="0" err="1">
                <a:hlinkClick r:id="rId5"/>
              </a:rPr>
              <a:t>final.pd</a:t>
            </a:r>
            <a:r>
              <a:rPr lang="en-GB" sz="2000" dirty="0"/>
              <a:t>]</a:t>
            </a:r>
          </a:p>
          <a:p>
            <a:pPr marL="342900" indent="-342900">
              <a:lnSpc>
                <a:spcPct val="150000"/>
              </a:lnSpc>
              <a:buFont typeface="Wingdings" panose="05000000000000000000" pitchFamily="2" charset="2"/>
              <a:buChar char="q"/>
            </a:pPr>
            <a:r>
              <a:rPr lang="en-GB" sz="2000" dirty="0"/>
              <a:t> Hence high maintenance costs especially on fuel for Diesel generators</a:t>
            </a:r>
            <a:endParaRPr lang="en-US" sz="2000" dirty="0"/>
          </a:p>
        </p:txBody>
      </p:sp>
    </p:spTree>
    <p:extLst>
      <p:ext uri="{BB962C8B-B14F-4D97-AF65-F5344CB8AC3E}">
        <p14:creationId xmlns:p14="http://schemas.microsoft.com/office/powerpoint/2010/main" val="4236063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152400"/>
            <a:ext cx="754063"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8"/>
          <p:cNvSpPr txBox="1">
            <a:spLocks noChangeArrowheads="1"/>
          </p:cNvSpPr>
          <p:nvPr/>
        </p:nvSpPr>
        <p:spPr bwMode="auto">
          <a:xfrm>
            <a:off x="1371600" y="581812"/>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10247"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10248" name="TextBox 8"/>
          <p:cNvSpPr txBox="1">
            <a:spLocks noChangeArrowheads="1"/>
          </p:cNvSpPr>
          <p:nvPr/>
        </p:nvSpPr>
        <p:spPr bwMode="auto">
          <a:xfrm>
            <a:off x="1219200" y="457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GB" sz="1600" b="1" dirty="0"/>
              <a:t>RENEWABLE ENERGY IN TELECOM </a:t>
            </a:r>
            <a:r>
              <a:rPr lang="en-GB" sz="1600" b="1" dirty="0" smtClean="0"/>
              <a:t>SITES</a:t>
            </a:r>
            <a:endParaRPr lang="en-US" sz="1600" b="1" dirty="0"/>
          </a:p>
        </p:txBody>
      </p:sp>
      <p:sp>
        <p:nvSpPr>
          <p:cNvPr id="4" name="Rectangle 3"/>
          <p:cNvSpPr/>
          <p:nvPr/>
        </p:nvSpPr>
        <p:spPr>
          <a:xfrm>
            <a:off x="253641" y="1219200"/>
            <a:ext cx="8636718" cy="5223033"/>
          </a:xfrm>
          <a:prstGeom prst="rect">
            <a:avLst/>
          </a:prstGeom>
        </p:spPr>
        <p:txBody>
          <a:bodyPr wrap="square">
            <a:spAutoFit/>
          </a:bodyPr>
          <a:lstStyle/>
          <a:p>
            <a:pPr marL="285750" indent="-285750">
              <a:lnSpc>
                <a:spcPct val="150000"/>
              </a:lnSpc>
              <a:buFont typeface="Wingdings" panose="05000000000000000000" pitchFamily="2" charset="2"/>
              <a:buChar char="q"/>
            </a:pPr>
            <a:r>
              <a:rPr lang="en-GB" sz="1400" dirty="0"/>
              <a:t>Energy costs in the Telecommunication industry constitute as high as 40% of the overall OPEX. [</a:t>
            </a:r>
            <a:r>
              <a:rPr lang="en-GB" sz="1400" dirty="0">
                <a:hlinkClick r:id="rId4"/>
              </a:rPr>
              <a:t>Green Power for Mobile</a:t>
            </a:r>
            <a:r>
              <a:rPr lang="en-GB" sz="1400" dirty="0"/>
              <a:t>] Typical Off grid sites may consume about 14,000 litres of Diesel per month(This varies with site capacity) and adds nearly 35tons of CO2. For sites with unreliable Grid electricity may consume up to 6,700 litres and add 18tons of CO2.  Furthermore, an additional of about 10% to total costs due to fuel pilferage. [</a:t>
            </a:r>
            <a:r>
              <a:rPr lang="en-GB" sz="1400" dirty="0">
                <a:hlinkClick r:id="rId4"/>
              </a:rPr>
              <a:t>Green Power for Mobile</a:t>
            </a:r>
            <a:r>
              <a:rPr lang="en-GB" sz="1400" dirty="0"/>
              <a:t>] </a:t>
            </a:r>
          </a:p>
          <a:p>
            <a:pPr marL="285750" indent="-285750">
              <a:lnSpc>
                <a:spcPct val="150000"/>
              </a:lnSpc>
              <a:buFont typeface="Wingdings" panose="05000000000000000000" pitchFamily="2" charset="2"/>
              <a:buChar char="q"/>
            </a:pPr>
            <a:r>
              <a:rPr lang="en-GB" sz="1400" dirty="0"/>
              <a:t>Hence adapting greener source of energy will improve on less carbon emission as well costs on </a:t>
            </a:r>
            <a:r>
              <a:rPr lang="en-GB" sz="1400" dirty="0" err="1"/>
              <a:t>Opex</a:t>
            </a:r>
            <a:r>
              <a:rPr lang="en-GB" sz="1400" dirty="0"/>
              <a:t>. According to African market report [2014], reduction of 60-70% may improve </a:t>
            </a:r>
            <a:r>
              <a:rPr lang="en-GB" sz="1400" dirty="0" err="1"/>
              <a:t>Opex</a:t>
            </a:r>
            <a:r>
              <a:rPr lang="en-GB" sz="1400" dirty="0"/>
              <a:t> savings up to 17,000 USD per site.</a:t>
            </a:r>
          </a:p>
          <a:p>
            <a:pPr marL="285750" indent="-285750">
              <a:lnSpc>
                <a:spcPct val="150000"/>
              </a:lnSpc>
              <a:buFont typeface="Wingdings" panose="05000000000000000000" pitchFamily="2" charset="2"/>
              <a:buChar char="q"/>
            </a:pPr>
            <a:r>
              <a:rPr lang="en-GB" sz="1400" dirty="0"/>
              <a:t>LPG generators can be used as a strategy minimizes the risks of fuel pilferage as well as  the cost of operation but also a means to adapt green power for Telecom Industry. Currently cost of diesel is 1,345 USD per litre  with continuous increase in prices due to various factors such as the current war between Russia and Ukraine.</a:t>
            </a:r>
          </a:p>
          <a:p>
            <a:pPr marL="285750" indent="-285750">
              <a:lnSpc>
                <a:spcPct val="150000"/>
              </a:lnSpc>
              <a:buFont typeface="Wingdings" panose="05000000000000000000" pitchFamily="2" charset="2"/>
              <a:buChar char="q"/>
            </a:pPr>
            <a:r>
              <a:rPr lang="en-GB" sz="1400" dirty="0"/>
              <a:t>According to EWURA , there is a significant growth in the market for LPG reaching 30% growth about 190,248 tonnes in the 2019/20 financial year. This is contributed by conducive government policies in adapting cleaner energy, continuous demand and reliability of the LPG for various use.[ </a:t>
            </a:r>
            <a:r>
              <a:rPr lang="en-GB" sz="1400" dirty="0">
                <a:hlinkClick r:id="rId5"/>
              </a:rPr>
              <a:t>https://allafrica.com</a:t>
            </a:r>
            <a:r>
              <a:rPr lang="en-GB" sz="1400" dirty="0"/>
              <a:t>]</a:t>
            </a:r>
          </a:p>
        </p:txBody>
      </p:sp>
    </p:spTree>
    <p:extLst>
      <p:ext uri="{BB962C8B-B14F-4D97-AF65-F5344CB8AC3E}">
        <p14:creationId xmlns:p14="http://schemas.microsoft.com/office/powerpoint/2010/main" val="2289243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22529" y="6689944"/>
            <a:ext cx="9144000" cy="1524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5" name="Rectangle 4"/>
          <p:cNvSpPr>
            <a:spLocks noChangeArrowheads="1"/>
          </p:cNvSpPr>
          <p:nvPr/>
        </p:nvSpPr>
        <p:spPr bwMode="auto">
          <a:xfrm>
            <a:off x="22529" y="6564711"/>
            <a:ext cx="9144000" cy="1524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dirty="0"/>
          </a:p>
        </p:txBody>
      </p:sp>
      <p:pic>
        <p:nvPicPr>
          <p:cNvPr id="819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152400"/>
            <a:ext cx="7540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198"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9"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317" name="TextBox 8"/>
          <p:cNvSpPr txBox="1">
            <a:spLocks noChangeArrowheads="1"/>
          </p:cNvSpPr>
          <p:nvPr/>
        </p:nvSpPr>
        <p:spPr bwMode="auto">
          <a:xfrm>
            <a:off x="1873250" y="1025525"/>
            <a:ext cx="4565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GB" sz="1600" b="1" dirty="0" smtClean="0"/>
              <a:t>GENERATOR CAPACITY</a:t>
            </a:r>
            <a:endParaRPr lang="en-US" b="1" dirty="0">
              <a:solidFill>
                <a:srgbClr val="002060"/>
              </a:solidFill>
            </a:endParaRPr>
          </a:p>
        </p:txBody>
      </p:sp>
      <p:sp>
        <p:nvSpPr>
          <p:cNvPr id="3" name="Rectangle 2"/>
          <p:cNvSpPr/>
          <p:nvPr/>
        </p:nvSpPr>
        <p:spPr>
          <a:xfrm>
            <a:off x="76200" y="1785705"/>
            <a:ext cx="8607425" cy="3000821"/>
          </a:xfrm>
          <a:prstGeom prst="rect">
            <a:avLst/>
          </a:prstGeom>
        </p:spPr>
        <p:txBody>
          <a:bodyPr wrap="square">
            <a:spAutoFit/>
          </a:bodyPr>
          <a:lstStyle/>
          <a:p>
            <a:pPr marL="285750" indent="-285750">
              <a:lnSpc>
                <a:spcPct val="150000"/>
              </a:lnSpc>
              <a:buFont typeface="Wingdings" panose="05000000000000000000" pitchFamily="2" charset="2"/>
              <a:buChar char="q"/>
            </a:pPr>
            <a:r>
              <a:rPr lang="en-GB" sz="1800" dirty="0" smtClean="0"/>
              <a:t>Generator </a:t>
            </a:r>
            <a:r>
              <a:rPr lang="en-GB" sz="1800" dirty="0"/>
              <a:t>capacity ranges from 20KVA for small sites and about 1000 KVA for larger sites</a:t>
            </a:r>
          </a:p>
          <a:p>
            <a:pPr marL="285750" indent="-285750">
              <a:lnSpc>
                <a:spcPct val="150000"/>
              </a:lnSpc>
              <a:buFont typeface="Wingdings" panose="05000000000000000000" pitchFamily="2" charset="2"/>
              <a:buChar char="q"/>
            </a:pPr>
            <a:r>
              <a:rPr lang="en-GB" sz="1800" dirty="0"/>
              <a:t>Average rate of consumption (CPH) is approximately between 1.2 -2kg on LPG generators</a:t>
            </a:r>
          </a:p>
          <a:p>
            <a:pPr marL="285750" indent="-285750">
              <a:lnSpc>
                <a:spcPct val="150000"/>
              </a:lnSpc>
              <a:buFont typeface="Wingdings" panose="05000000000000000000" pitchFamily="2" charset="2"/>
              <a:buChar char="q"/>
            </a:pPr>
            <a:r>
              <a:rPr lang="en-GB" sz="1800" dirty="0"/>
              <a:t>LPG for sites can be stored in 38kg Cylinders or in bulk tanks of </a:t>
            </a:r>
            <a:r>
              <a:rPr lang="en-GB" sz="1800" dirty="0" smtClean="0"/>
              <a:t>1000kg but not limited to mentioned storage capacity</a:t>
            </a:r>
            <a:endParaRPr lang="en-GB" sz="1800" dirty="0"/>
          </a:p>
          <a:p>
            <a:pPr>
              <a:lnSpc>
                <a:spcPct val="150000"/>
              </a:lnSpc>
            </a:pPr>
            <a:endParaRPr lang="en-GB" sz="1800" dirty="0"/>
          </a:p>
        </p:txBody>
      </p:sp>
    </p:spTree>
    <p:extLst>
      <p:ext uri="{BB962C8B-B14F-4D97-AF65-F5344CB8AC3E}">
        <p14:creationId xmlns:p14="http://schemas.microsoft.com/office/powerpoint/2010/main" val="15420476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ChangeArrowheads="1"/>
          </p:cNvSpPr>
          <p:nvPr/>
        </p:nvSpPr>
        <p:spPr bwMode="auto">
          <a:xfrm>
            <a:off x="22529" y="6689944"/>
            <a:ext cx="9144000" cy="1524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5" name="Rectangle 4"/>
          <p:cNvSpPr>
            <a:spLocks noChangeArrowheads="1"/>
          </p:cNvSpPr>
          <p:nvPr/>
        </p:nvSpPr>
        <p:spPr bwMode="auto">
          <a:xfrm>
            <a:off x="22529" y="6564711"/>
            <a:ext cx="9144000" cy="1524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dirty="0"/>
          </a:p>
        </p:txBody>
      </p:sp>
      <p:pic>
        <p:nvPicPr>
          <p:cNvPr id="819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48600" y="152400"/>
            <a:ext cx="7540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198"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8199" name="Text Box 8"/>
          <p:cNvSpPr txBox="1">
            <a:spLocks noChangeArrowheads="1"/>
          </p:cNvSpPr>
          <p:nvPr/>
        </p:nvSpPr>
        <p:spPr bwMode="auto">
          <a:xfrm>
            <a:off x="311150" y="34925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8317" name="TextBox 8"/>
          <p:cNvSpPr txBox="1">
            <a:spLocks noChangeArrowheads="1"/>
          </p:cNvSpPr>
          <p:nvPr/>
        </p:nvSpPr>
        <p:spPr bwMode="auto">
          <a:xfrm>
            <a:off x="-33793" y="994898"/>
            <a:ext cx="45656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GB" sz="1600" b="1" dirty="0" smtClean="0"/>
              <a:t>REFERENCE</a:t>
            </a:r>
            <a:endParaRPr lang="en-US" b="1" dirty="0">
              <a:solidFill>
                <a:srgbClr val="002060"/>
              </a:solidFill>
            </a:endParaRPr>
          </a:p>
        </p:txBody>
      </p:sp>
      <p:sp>
        <p:nvSpPr>
          <p:cNvPr id="3" name="Rectangle 2"/>
          <p:cNvSpPr/>
          <p:nvPr/>
        </p:nvSpPr>
        <p:spPr>
          <a:xfrm>
            <a:off x="22529" y="1565345"/>
            <a:ext cx="8607425" cy="3924151"/>
          </a:xfrm>
          <a:prstGeom prst="rect">
            <a:avLst/>
          </a:prstGeom>
        </p:spPr>
        <p:txBody>
          <a:bodyPr wrap="square">
            <a:spAutoFit/>
          </a:bodyPr>
          <a:lstStyle/>
          <a:p>
            <a:pPr>
              <a:buFont typeface="Wingdings" panose="05000000000000000000" pitchFamily="2" charset="2"/>
              <a:buChar char="q"/>
            </a:pPr>
            <a:r>
              <a:rPr lang="en-GB" sz="1800" i="1" dirty="0"/>
              <a:t>Investment Brief for the Electricity Sector in Tanzania</a:t>
            </a:r>
            <a:r>
              <a:rPr lang="en-GB" sz="1800" dirty="0"/>
              <a:t>. (2015, May 3). Power Africa. </a:t>
            </a:r>
            <a:r>
              <a:rPr lang="en-GB" sz="1800" dirty="0">
                <a:hlinkClick r:id="rId4"/>
              </a:rPr>
              <a:t>https://www.usaid.gov/sites/default/files/documents/1860/Tanzania%20_IG_2015_05_03.pdf</a:t>
            </a:r>
            <a:endParaRPr lang="en-GB" sz="1800" dirty="0"/>
          </a:p>
          <a:p>
            <a:endParaRPr lang="en-GB" sz="1800" dirty="0"/>
          </a:p>
          <a:p>
            <a:pPr>
              <a:buFont typeface="Wingdings" panose="05000000000000000000" pitchFamily="2" charset="2"/>
              <a:buChar char="q"/>
            </a:pPr>
            <a:r>
              <a:rPr lang="en-GB" sz="1800" i="1" dirty="0"/>
              <a:t>Helios Towers </a:t>
            </a:r>
            <a:r>
              <a:rPr lang="en-GB" sz="1800" i="1" dirty="0" err="1"/>
              <a:t>plc</a:t>
            </a:r>
            <a:r>
              <a:rPr lang="en-GB" sz="1800" i="1" dirty="0"/>
              <a:t> Annual Report and Financial Statements. (2019). HELIOS TOWERS. Retrieved July 18, 2022, from </a:t>
            </a:r>
            <a:r>
              <a:rPr lang="en-GB" sz="1800" i="1" dirty="0">
                <a:hlinkClick r:id="rId5"/>
              </a:rPr>
              <a:t>https://www.heliostowers.com/media/1786/ht-ar-2019.pdf</a:t>
            </a:r>
            <a:endParaRPr lang="en-GB" sz="1800" i="1" dirty="0"/>
          </a:p>
          <a:p>
            <a:pPr marL="0" indent="0">
              <a:buNone/>
            </a:pPr>
            <a:endParaRPr lang="en-GB" sz="1800" i="1" dirty="0"/>
          </a:p>
          <a:p>
            <a:pPr>
              <a:buFont typeface="Wingdings" panose="05000000000000000000" pitchFamily="2" charset="2"/>
              <a:buChar char="q"/>
            </a:pPr>
            <a:r>
              <a:rPr lang="en-GB" sz="1800" i="1" dirty="0"/>
              <a:t>TANZANIA INVESTMENT REPORT 2018. (2018). NBS. </a:t>
            </a:r>
            <a:r>
              <a:rPr lang="en-GB" sz="1800" i="1" dirty="0">
                <a:hlinkClick r:id="rId6"/>
              </a:rPr>
              <a:t>https://www.bot.go.tz/Publications/Other/Tanzania%20Investment/en/2020021122482283199.pdf</a:t>
            </a:r>
            <a:endParaRPr lang="en-GB" sz="1800" i="1" dirty="0"/>
          </a:p>
          <a:p>
            <a:pPr>
              <a:lnSpc>
                <a:spcPct val="150000"/>
              </a:lnSpc>
            </a:pPr>
            <a:endParaRPr lang="en-GB" sz="1800" dirty="0"/>
          </a:p>
        </p:txBody>
      </p:sp>
    </p:spTree>
    <p:extLst>
      <p:ext uri="{BB962C8B-B14F-4D97-AF65-F5344CB8AC3E}">
        <p14:creationId xmlns:p14="http://schemas.microsoft.com/office/powerpoint/2010/main" val="35349560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1713" y="152400"/>
            <a:ext cx="125095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 Box 8"/>
          <p:cNvSpPr txBox="1">
            <a:spLocks noChangeArrowheads="1"/>
          </p:cNvSpPr>
          <p:nvPr/>
        </p:nvSpPr>
        <p:spPr bwMode="auto">
          <a:xfrm>
            <a:off x="457200" y="381000"/>
            <a:ext cx="4260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dirty="0">
                <a:solidFill>
                  <a:schemeClr val="bg1"/>
                </a:solidFill>
              </a:rPr>
              <a:t>We Are Continuously Improving Performance</a:t>
            </a:r>
            <a:endParaRPr lang="en-US" sz="1600" dirty="0">
              <a:solidFill>
                <a:schemeClr val="bg1"/>
              </a:solidFill>
              <a:latin typeface="Optima" pitchFamily="-35" charset="0"/>
            </a:endParaRPr>
          </a:p>
        </p:txBody>
      </p:sp>
      <p:sp>
        <p:nvSpPr>
          <p:cNvPr id="11268" name="Rectangle 10"/>
          <p:cNvSpPr>
            <a:spLocks noChangeArrowheads="1"/>
          </p:cNvSpPr>
          <p:nvPr/>
        </p:nvSpPr>
        <p:spPr bwMode="auto">
          <a:xfrm flipV="1">
            <a:off x="0" y="1752600"/>
            <a:ext cx="9144000" cy="76200"/>
          </a:xfrm>
          <a:prstGeom prst="rect">
            <a:avLst/>
          </a:prstGeom>
          <a:solidFill>
            <a:srgbClr val="113366"/>
          </a:solidFill>
          <a:ln>
            <a:noFill/>
          </a:ln>
          <a:extLst>
            <a:ext uri="{91240B29-F687-4F45-9708-019B960494DF}">
              <a14:hiddenLine xmlns:a14="http://schemas.microsoft.com/office/drawing/2010/main" w="9525">
                <a:solidFill>
                  <a:srgbClr val="000000"/>
                </a:solidFill>
                <a:miter lim="800000"/>
                <a:headEnd/>
                <a:tailEnd/>
              </a14:hiddenLine>
            </a:ext>
          </a:extLst>
        </p:spPr>
        <p:txBody>
          <a:bodyPr rot="10800000"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grpSp>
        <p:nvGrpSpPr>
          <p:cNvPr id="11269" name="Group 10"/>
          <p:cNvGrpSpPr>
            <a:grpSpLocks/>
          </p:cNvGrpSpPr>
          <p:nvPr/>
        </p:nvGrpSpPr>
        <p:grpSpPr bwMode="auto">
          <a:xfrm>
            <a:off x="0" y="304800"/>
            <a:ext cx="5167313" cy="457200"/>
            <a:chOff x="0" y="304800"/>
            <a:chExt cx="5166756" cy="457200"/>
          </a:xfrm>
        </p:grpSpPr>
        <p:sp>
          <p:nvSpPr>
            <p:cNvPr id="11275" name="Rectangle 39"/>
            <p:cNvSpPr>
              <a:spLocks noChangeArrowheads="1"/>
            </p:cNvSpPr>
            <p:nvPr/>
          </p:nvSpPr>
          <p:spPr bwMode="auto">
            <a:xfrm>
              <a:off x="0" y="304800"/>
              <a:ext cx="5029200" cy="457200"/>
            </a:xfrm>
            <a:prstGeom prst="rect">
              <a:avLst/>
            </a:prstGeom>
            <a:solidFill>
              <a:srgbClr val="66AA4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endParaRPr lang="en-GB" dirty="0"/>
            </a:p>
          </p:txBody>
        </p:sp>
        <p:sp>
          <p:nvSpPr>
            <p:cNvPr id="11276" name="Text Box 40"/>
            <p:cNvSpPr txBox="1">
              <a:spLocks noChangeArrowheads="1"/>
            </p:cNvSpPr>
            <p:nvPr/>
          </p:nvSpPr>
          <p:spPr bwMode="auto">
            <a:xfrm>
              <a:off x="152400" y="364123"/>
              <a:ext cx="50143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sz="1600" b="1" dirty="0">
                  <a:solidFill>
                    <a:schemeClr val="bg1"/>
                  </a:solidFill>
                </a:rPr>
                <a:t>Delivering Quality, Performance &amp; Improvement</a:t>
              </a:r>
              <a:endParaRPr lang="en-US" sz="1600" b="1" dirty="0">
                <a:solidFill>
                  <a:schemeClr val="bg1"/>
                </a:solidFill>
                <a:latin typeface="Optima" pitchFamily="-35" charset="0"/>
              </a:endParaRPr>
            </a:p>
          </p:txBody>
        </p:sp>
      </p:grpSp>
      <p:sp>
        <p:nvSpPr>
          <p:cNvPr id="14" name="object 2"/>
          <p:cNvSpPr/>
          <p:nvPr/>
        </p:nvSpPr>
        <p:spPr>
          <a:xfrm>
            <a:off x="5639576" y="2342325"/>
            <a:ext cx="2707528" cy="2153475"/>
          </a:xfrm>
          <a:prstGeom prst="rect">
            <a:avLst/>
          </a:prstGeom>
          <a:blipFill>
            <a:blip r:embed="rId4" cstate="print"/>
            <a:srcRect/>
            <a:stretch>
              <a:fillRect l="-1318" t="-924"/>
            </a:stretch>
          </a:blipFill>
          <a:ln>
            <a:solidFill>
              <a:schemeClr val="bg1"/>
            </a:solidFill>
          </a:ln>
          <a:effectLst/>
        </p:spPr>
        <p:txBody>
          <a:bodyPr lIns="0" tIns="0" rIns="0" bIns="0"/>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fontAlgn="auto">
              <a:spcBef>
                <a:spcPts val="0"/>
              </a:spcBef>
              <a:spcAft>
                <a:spcPts val="0"/>
              </a:spcAft>
              <a:defRPr/>
            </a:pPr>
            <a:endParaRPr dirty="0">
              <a:latin typeface="+mn-lt"/>
              <a:cs typeface="+mn-cs"/>
            </a:endParaRPr>
          </a:p>
        </p:txBody>
      </p:sp>
      <p:sp>
        <p:nvSpPr>
          <p:cNvPr id="11273" name="object 3"/>
          <p:cNvSpPr txBox="1">
            <a:spLocks/>
          </p:cNvSpPr>
          <p:nvPr/>
        </p:nvSpPr>
        <p:spPr bwMode="auto">
          <a:xfrm>
            <a:off x="773113" y="2635250"/>
            <a:ext cx="48545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dirty="0">
                <a:solidFill>
                  <a:srgbClr val="113366"/>
                </a:solidFill>
                <a:latin typeface="Calibri" panose="020F0502020204030204" pitchFamily="34" charset="0"/>
                <a:cs typeface="Arial" panose="020B0604020202020204" pitchFamily="34" charset="0"/>
              </a:rPr>
              <a:t>Building Shared Goals Partnerships  </a:t>
            </a:r>
            <a:r>
              <a:rPr lang="en-US" altLang="en-US" dirty="0">
                <a:solidFill>
                  <a:srgbClr val="66AA44"/>
                </a:solidFill>
                <a:latin typeface="Calibri" panose="020F0502020204030204" pitchFamily="34" charset="0"/>
                <a:cs typeface="Arial" panose="020B0604020202020204" pitchFamily="34" charset="0"/>
              </a:rPr>
              <a:t>Through Integrity, Quality and Reliability</a:t>
            </a:r>
          </a:p>
        </p:txBody>
      </p:sp>
      <p:pic>
        <p:nvPicPr>
          <p:cNvPr id="11274" name="Picture 1"/>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4938713"/>
            <a:ext cx="9144000"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5"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5"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15052</TotalTime>
  <Words>809</Words>
  <Application>Microsoft Office PowerPoint</Application>
  <PresentationFormat>On-screen Show (4:3)</PresentationFormat>
  <Paragraphs>58</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MS PGothic</vt:lpstr>
      <vt:lpstr>Arial</vt:lpstr>
      <vt:lpstr>Calibri</vt:lpstr>
      <vt:lpstr>Optima</vt:lpstr>
      <vt:lpstr>Wingdings</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John Clube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Clube</dc:creator>
  <cp:lastModifiedBy>Microsoft account</cp:lastModifiedBy>
  <cp:revision>438</cp:revision>
  <cp:lastPrinted>2022-05-18T09:01:44Z</cp:lastPrinted>
  <dcterms:created xsi:type="dcterms:W3CDTF">2011-06-20T19:31:20Z</dcterms:created>
  <dcterms:modified xsi:type="dcterms:W3CDTF">2022-07-21T14:03:30Z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